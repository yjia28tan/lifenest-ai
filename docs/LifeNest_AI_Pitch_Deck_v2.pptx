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72" d="100"/>
          <a:sy n="72" d="100"/>
        </p:scale>
        <p:origin x="3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2213A"/>
                </a:solidFill>
                <a:latin typeface="Calibri"/>
              </a:defRPr>
            </a:pPr>
            <a:r>
              <a:rPr lang="en-US" sz="1300" b="0" i="0" u="none" strike="noStrike">
                <a:solidFill>
                  <a:srgbClr val="12213A"/>
                </a:solidFill>
                <a:latin typeface="Calibri"/>
              </a:rPr>
              <a:t>Household cashflow under stress — RM750,000 purchase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surplus (RM)</c:v>
                </c:pt>
              </c:strCache>
            </c:strRef>
          </c:tx>
          <c:spPr>
            <a:solidFill>
              <a:srgbClr val="12213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3A4A5F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Today</c:v>
                </c:pt>
                <c:pt idx="1">
                  <c:v>Marriage</c:v>
                </c:pt>
                <c:pt idx="2">
                  <c:v>First child</c:v>
                </c:pt>
                <c:pt idx="3">
                  <c:v>Rate +1%</c:v>
                </c:pt>
                <c:pt idx="4">
                  <c:v>Job loss (3 mo)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1180</c:v>
                </c:pt>
                <c:pt idx="1">
                  <c:v>860</c:v>
                </c:pt>
                <c:pt idx="2">
                  <c:v>-240</c:v>
                </c:pt>
                <c:pt idx="3">
                  <c:v>520</c:v>
                </c:pt>
                <c:pt idx="4">
                  <c:v>-1950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3F5-4910-B3C5-EF4F16B87C7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5B7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4E9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494A6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1000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95087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one-line promise. Do not describe features yet. The judges hear ~40 pitches; the differentiator is that this is a risk product, not a property chatbot.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Aina is composite, drawn from the RM500k-700k band where financing failure is most concentrated. Say that openly if asked.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carries Problem Alignment &amp; Impact (25%). Every number is public and citable — say 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2 is the strongest non-obvious insight and is verifiable — EPF restructured May 2024 into Akaun Persaraan 75%, Akaun Sejahtera 15%, Akaun Fleksibel 10%.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Deliberately one theme: BFSI. Two things to land here. First, location is an input to the cost model, not a search UI — the same RM520,000 in Semenyih and in Cheras are different loans once commute is priced in. Second, the product does not stop at no; it produces a dated plan to yes. Property discovery is a consequence of the verdict, never a co-equal feature.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Ninety seconds is the demo target. Time the video against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highest-weighted slide. Emphasise: multimodal intake, function calling into a real rules engine, and full auditability. Point at location_cost() — it turns a map into a cashflow line — and at plan_path_to_approval(), which is what makes a rejection useful. That combination is what separates this from a wrapper.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 judge probes depth, this is the slide that proves the team understands the domain rather than wrapping an LLM around a generic calculator.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Illustrative figures from the demo profile. This chart is the memorable image of the pitch — negative bars land harder than any sentence.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incentive argument is the strongest differentiation point. Lead with it in Q&amp;A.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four-beneficiary framing answers "who pays for this?" without turning the pitch into a business model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 the "beyond the prototype stage" sub-criterion inside Technical Merit. Keep it to one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Mentioning PDPA unprompted signals seriousness and pre-empts the obvious question about handling payslips.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Ends on defensibility. Note that the readiness plan is in the working prototype, not on the roadmap — say so out loud, because most teams put their best feature in the future column. Judges reward teams who can explain why the project survives after the hackathon.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human line, not on the tech. Then stop talking.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1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1463040"/>
            <a:ext cx="5669280" cy="5669280"/>
          </a:xfrm>
          <a:prstGeom prst="ellipse">
            <a:avLst/>
          </a:prstGeom>
          <a:solidFill>
            <a:srgbClr val="1E3358"/>
          </a:solidFill>
          <a:ln w="12700">
            <a:solidFill>
              <a:srgbClr val="1E3358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" name="Shape 1"/>
          <p:cNvSpPr/>
          <p:nvPr/>
        </p:nvSpPr>
        <p:spPr>
          <a:xfrm>
            <a:off x="640080" y="1143000"/>
            <a:ext cx="3200400" cy="310896"/>
          </a:xfrm>
          <a:prstGeom prst="roundRect">
            <a:avLst>
              <a:gd name="adj" fmla="val 50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" name="Text 2"/>
          <p:cNvSpPr txBox="1"/>
          <p:nvPr/>
        </p:nvSpPr>
        <p:spPr>
          <a:xfrm>
            <a:off x="640080" y="1143000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2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BFSI  ·  INTELLIGENT RISK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91640"/>
            <a:ext cx="7680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LifeNest</a:t>
            </a: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AI</a:t>
            </a:r>
            <a:endParaRPr lang="en-US" sz="5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8892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800" dirty="0">
                <a:solidFill>
                  <a:srgbClr val="A9B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financial risk advisor that tells first-time home buyers</a:t>
            </a:r>
            <a:endParaRPr lang="en-US" sz="18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800" dirty="0">
                <a:solidFill>
                  <a:srgbClr val="A9B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 can truly afford — before they sign.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4069080"/>
            <a:ext cx="7315200" cy="822960"/>
          </a:xfrm>
          <a:prstGeom prst="roundRect">
            <a:avLst>
              <a:gd name="adj" fmla="val 11111"/>
            </a:avLst>
          </a:prstGeom>
          <a:solidFill>
            <a:srgbClr val="1E3358"/>
          </a:solidFill>
          <a:ln w="12700">
            <a:solidFill>
              <a:srgbClr val="1E3358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8" name="Text 6"/>
          <p:cNvSpPr txBox="1"/>
          <p:nvPr/>
        </p:nvSpPr>
        <p:spPr>
          <a:xfrm>
            <a:off x="914400" y="406908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"Not just what they can buy — what they should buy."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5806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E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Cloud AI Builder Cup 2026  ·  JAPAC  ·  Built in Malaysia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9260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MOMENT THIS HAPPENS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5720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2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Nobody tells her the number that matters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00200"/>
            <a:ext cx="51206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3A4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Aina is 29, earns RM6,200 a month, and has a car loan and a study loan.</a:t>
            </a:r>
            <a:endParaRPr lang="en-US" sz="1500" dirty="0"/>
          </a:p>
          <a:p>
            <a:pPr marL="0" indent="0" algn="l">
              <a:lnSpc>
                <a:spcPts val="2400"/>
              </a:lnSpc>
              <a:buNone/>
            </a:pPr>
            <a:endParaRPr lang="en-US" sz="15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3A4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asks her budget. She says RM750,000 — a figure she reached by looking at listings, not at her payslip.</a:t>
            </a:r>
            <a:endParaRPr lang="en-US" sz="1500" dirty="0"/>
          </a:p>
          <a:p>
            <a:pPr marL="0" indent="0" algn="l">
              <a:lnSpc>
                <a:spcPts val="2400"/>
              </a:lnSpc>
              <a:buNone/>
            </a:pPr>
            <a:endParaRPr lang="en-US" sz="15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3A4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views three units. She falls in love with one. She pays the booking fee.</a:t>
            </a:r>
            <a:endParaRPr lang="en-US" sz="1500" dirty="0"/>
          </a:p>
          <a:p>
            <a:pPr marL="0" indent="0" algn="l">
              <a:lnSpc>
                <a:spcPts val="2400"/>
              </a:lnSpc>
              <a:buNone/>
            </a:pPr>
            <a:endParaRPr lang="en-US" sz="15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3A4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Eleven weeks later, the bank rejects her.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0" y="1600200"/>
            <a:ext cx="5120640" cy="1417320"/>
          </a:xfrm>
          <a:prstGeom prst="roundRect">
            <a:avLst>
              <a:gd name="adj" fmla="val 5806"/>
            </a:avLst>
          </a:prstGeom>
          <a:solidFill>
            <a:srgbClr val="FBEAE8"/>
          </a:solidFill>
          <a:ln w="12700">
            <a:solidFill>
              <a:srgbClr val="F0C9C4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6" name="Text 4"/>
          <p:cNvSpPr txBox="1"/>
          <p:nvPr/>
        </p:nvSpPr>
        <p:spPr>
          <a:xfrm>
            <a:off x="6720840" y="1783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she was shopping at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720840" y="210312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RM750,000</a:t>
            </a:r>
            <a:endParaRPr lang="en-US" sz="3800" dirty="0"/>
          </a:p>
        </p:txBody>
      </p:sp>
      <p:sp>
        <p:nvSpPr>
          <p:cNvPr id="8" name="Shape 6"/>
          <p:cNvSpPr/>
          <p:nvPr/>
        </p:nvSpPr>
        <p:spPr>
          <a:xfrm>
            <a:off x="6400800" y="3246120"/>
            <a:ext cx="5120640" cy="1417320"/>
          </a:xfrm>
          <a:prstGeom prst="roundRect">
            <a:avLst>
              <a:gd name="adj" fmla="val 5806"/>
            </a:avLst>
          </a:prstGeom>
          <a:solidFill>
            <a:srgbClr val="E6F3ED"/>
          </a:solidFill>
          <a:ln w="12700">
            <a:solidFill>
              <a:srgbClr val="BFE0D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9" name="Text 7"/>
          <p:cNvSpPr txBox="1"/>
          <p:nvPr/>
        </p:nvSpPr>
        <p:spPr>
          <a:xfrm>
            <a:off x="6720840" y="3429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8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bank would actually approve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720840" y="374904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B8A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RM520,000</a:t>
            </a:r>
            <a:endParaRPr lang="en-US" sz="3800" dirty="0"/>
          </a:p>
        </p:txBody>
      </p:sp>
      <p:sp>
        <p:nvSpPr>
          <p:cNvPr id="11" name="Shape 9"/>
          <p:cNvSpPr/>
          <p:nvPr/>
        </p:nvSpPr>
        <p:spPr>
          <a:xfrm>
            <a:off x="6400800" y="4892040"/>
            <a:ext cx="5120640" cy="777240"/>
          </a:xfrm>
          <a:prstGeom prst="roundRect">
            <a:avLst>
              <a:gd name="adj" fmla="val 10588"/>
            </a:avLst>
          </a:prstGeom>
          <a:solidFill>
            <a:srgbClr val="F1F4F8"/>
          </a:solidFill>
          <a:ln w="12700">
            <a:solidFill>
              <a:srgbClr val="DCE3E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2" name="Text 10"/>
          <p:cNvSpPr txBox="1"/>
          <p:nvPr/>
        </p:nvSpPr>
        <p:spPr>
          <a:xfrm>
            <a:off x="6675120" y="489204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658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Eleven weeks, one booking fee, and a lost unit — to learn a number that could have been known on day one.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21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9260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NOT AN EDGE CASE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5720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Malaysia has a financing-readiness problem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8308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D98E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72%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624328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A9B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developers report buyers unable to secure loan approval</a:t>
            </a:r>
            <a:endParaRPr lang="en-US" sz="120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A9B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(REHDA, H2 2025, n=166)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3520440" y="178308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D98E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31–45%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3520440" y="2624328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A9B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attempted transactions fail on financing in the</a:t>
            </a:r>
            <a:endParaRPr lang="en-US" sz="120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A9B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RM500k–700k band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400800" y="178308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D98E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38% → 21%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6400800" y="2624328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A9B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collapse in new launch take-up rate in a single half-year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9281160" y="178308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D98E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52,000+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9281160" y="2624328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A9B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unsold completed homes, including serviced apartments</a:t>
            </a:r>
            <a:endParaRPr lang="en-US" sz="120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A9B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(NAPIC, Q1 2026)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4160520"/>
            <a:ext cx="10911535" cy="1371600"/>
          </a:xfrm>
          <a:prstGeom prst="roundRect">
            <a:avLst>
              <a:gd name="adj" fmla="val 6000"/>
            </a:avLst>
          </a:prstGeom>
          <a:solidFill>
            <a:srgbClr val="1E3358"/>
          </a:solidFill>
          <a:ln w="12700">
            <a:solidFill>
              <a:srgbClr val="1E3358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3" name="Text 11"/>
          <p:cNvSpPr txBox="1"/>
          <p:nvPr/>
        </p:nvSpPr>
        <p:spPr>
          <a:xfrm>
            <a:off x="960120" y="4160520"/>
            <a:ext cx="1027145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3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 reads this as a demand problem. It is not. </a:t>
            </a:r>
            <a:r>
              <a:rPr lang="en-US" sz="1500" dirty="0">
                <a:solidFill>
                  <a:srgbClr val="A9B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Buyers want to buy. They are being allowed to shop, view, and commit at price points they were never going to be financed for — and everyone discovers it eleven weeks too late.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6291072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E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REHDA Malaysia Property Industry Survey H2 2025; NAPIC Property Market Status Report Q1 2026.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9260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5720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2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things nobody checks up front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420624" cy="420624"/>
          </a:xfrm>
          <a:prstGeom prst="ellipse">
            <a:avLst/>
          </a:prstGeom>
          <a:solidFill>
            <a:srgbClr val="12213A"/>
          </a:solidFill>
          <a:ln w="12700">
            <a:solidFill>
              <a:srgbClr val="12213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5" name="Text 3"/>
          <p:cNvSpPr txBox="1"/>
          <p:nvPr/>
        </p:nvSpPr>
        <p:spPr>
          <a:xfrm>
            <a:off x="640080" y="16916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645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is self-declared, never computed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2029968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3A4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Buyers name a figure from listing prices. Nobody calculates debt service ratio against real income and real commitments until the loan application — the last step, not the first.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3108960"/>
            <a:ext cx="420624" cy="420624"/>
          </a:xfrm>
          <a:prstGeom prst="ellipse">
            <a:avLst/>
          </a:prstGeom>
          <a:solidFill>
            <a:srgbClr val="12213A"/>
          </a:solidFill>
          <a:ln w="12700">
            <a:solidFill>
              <a:srgbClr val="12213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9" name="Text 7"/>
          <p:cNvSpPr txBox="1"/>
          <p:nvPr/>
        </p:nvSpPr>
        <p:spPr>
          <a:xfrm>
            <a:off x="640080" y="3108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30632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rules changed and nobody recalculated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3447288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3A4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EPF restructured in May 2024. Housing withdrawals now come from Akaun Sejahtera at 15% of contributions, where the old Account 2 received 30%. Down-payment capacity has roughly halved, and buyers are still planning on the old numbers.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4526280"/>
            <a:ext cx="420624" cy="420624"/>
          </a:xfrm>
          <a:prstGeom prst="ellipse">
            <a:avLst/>
          </a:prstGeom>
          <a:solidFill>
            <a:srgbClr val="12213A"/>
          </a:solidFill>
          <a:ln w="12700">
            <a:solidFill>
              <a:srgbClr val="12213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3" name="Text 11"/>
          <p:cNvSpPr txBox="1"/>
          <p:nvPr/>
        </p:nvSpPr>
        <p:spPr>
          <a:xfrm>
            <a:off x="640080" y="45262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44805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Affordability is treated as a moment, not a decade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4864608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3A4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loan approved today is serviced for 30 years — through a child, a job change, a rate move. Nobody stress-tests the household. Approval is not the same as sustainable.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5806440"/>
            <a:ext cx="10911535" cy="594360"/>
          </a:xfrm>
          <a:prstGeom prst="roundRect">
            <a:avLst>
              <a:gd name="adj" fmla="val 13846"/>
            </a:avLst>
          </a:prstGeom>
          <a:solidFill>
            <a:srgbClr val="FDF3E0"/>
          </a:solidFill>
          <a:ln w="12700">
            <a:solidFill>
              <a:srgbClr val="F0DCB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7" name="Text 15"/>
          <p:cNvSpPr txBox="1"/>
          <p:nvPr/>
        </p:nvSpPr>
        <p:spPr>
          <a:xfrm>
            <a:off x="914400" y="5806440"/>
            <a:ext cx="103628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6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one of these is computable from documents the buyer already has in their pocket.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21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9260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5720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financial risk advisor, not a property search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1732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D98E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buyer photographs their payslip. Gemini does the rest.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2532888" cy="2651760"/>
          </a:xfrm>
          <a:prstGeom prst="roundRect">
            <a:avLst>
              <a:gd name="adj" fmla="val 3249"/>
            </a:avLst>
          </a:prstGeom>
          <a:solidFill>
            <a:srgbClr val="1E3358"/>
          </a:solidFill>
          <a:ln w="12700">
            <a:solidFill>
              <a:srgbClr val="1E3358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" name="Shape 4"/>
          <p:cNvSpPr/>
          <p:nvPr/>
        </p:nvSpPr>
        <p:spPr>
          <a:xfrm>
            <a:off x="896112" y="2331720"/>
            <a:ext cx="310896" cy="310896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7" name="Text 5"/>
          <p:cNvSpPr txBox="1"/>
          <p:nvPr/>
        </p:nvSpPr>
        <p:spPr>
          <a:xfrm>
            <a:off x="896112" y="2788920"/>
            <a:ext cx="2020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real documents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96112" y="3337560"/>
            <a:ext cx="202082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A9B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Payslip and EPF statement read directly by Gemini: income, deductions, commitments and Akaun Sejahtera balance. No forms.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29000" y="2057400"/>
            <a:ext cx="2532888" cy="2651760"/>
          </a:xfrm>
          <a:prstGeom prst="roundRect">
            <a:avLst>
              <a:gd name="adj" fmla="val 3249"/>
            </a:avLst>
          </a:prstGeom>
          <a:solidFill>
            <a:srgbClr val="1E3358"/>
          </a:solidFill>
          <a:ln w="12700">
            <a:solidFill>
              <a:srgbClr val="1E3358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0" name="Shape 8"/>
          <p:cNvSpPr/>
          <p:nvPr/>
        </p:nvSpPr>
        <p:spPr>
          <a:xfrm>
            <a:off x="3685032" y="2331720"/>
            <a:ext cx="310896" cy="310896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1" name="Text 9"/>
          <p:cNvSpPr txBox="1"/>
          <p:nvPr/>
        </p:nvSpPr>
        <p:spPr>
          <a:xfrm>
            <a:off x="3685032" y="2788920"/>
            <a:ext cx="2020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Computes honest capacity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685032" y="3337560"/>
            <a:ext cx="202082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A9B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 service ratio, SBR pricing, tenure, down payment — plus the cost of where you buy. Commute and tolls are a monthly bill, not a pin on a map.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17920" y="2057400"/>
            <a:ext cx="2532888" cy="2651760"/>
          </a:xfrm>
          <a:prstGeom prst="roundRect">
            <a:avLst>
              <a:gd name="adj" fmla="val 3249"/>
            </a:avLst>
          </a:prstGeom>
          <a:solidFill>
            <a:srgbClr val="1E3358"/>
          </a:solidFill>
          <a:ln w="12700">
            <a:solidFill>
              <a:srgbClr val="1E3358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4" name="Shape 12"/>
          <p:cNvSpPr/>
          <p:nvPr/>
        </p:nvSpPr>
        <p:spPr>
          <a:xfrm>
            <a:off x="6473952" y="2331720"/>
            <a:ext cx="310896" cy="310896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5" name="Text 13"/>
          <p:cNvSpPr txBox="1"/>
          <p:nvPr/>
        </p:nvSpPr>
        <p:spPr>
          <a:xfrm>
            <a:off x="6473952" y="2788920"/>
            <a:ext cx="2020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Stress-tests the next decade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73952" y="3337560"/>
            <a:ext cx="202082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A9B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Marriage, a first child, job loss, a rate rise. Each scenario is re-run against the household cashflow to expose the year it breaks.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9006840" y="2057400"/>
            <a:ext cx="2532888" cy="2651760"/>
          </a:xfrm>
          <a:prstGeom prst="roundRect">
            <a:avLst>
              <a:gd name="adj" fmla="val 3249"/>
            </a:avLst>
          </a:prstGeom>
          <a:solidFill>
            <a:srgbClr val="1E3358"/>
          </a:solidFill>
          <a:ln w="12700">
            <a:solidFill>
              <a:srgbClr val="1E3358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8" name="Shape 16"/>
          <p:cNvSpPr/>
          <p:nvPr/>
        </p:nvSpPr>
        <p:spPr>
          <a:xfrm>
            <a:off x="9262872" y="2331720"/>
            <a:ext cx="310896" cy="310896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9" name="Text 17"/>
          <p:cNvSpPr txBox="1"/>
          <p:nvPr/>
        </p:nvSpPr>
        <p:spPr>
          <a:xfrm>
            <a:off x="9262872" y="2788920"/>
            <a:ext cx="2020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 it, and plans the way out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9262872" y="3337560"/>
            <a:ext cx="202082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A9B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plain-language verdict in Malay, English or Mandarin. And when the answer is no, a dated plan to yes: what to pay down, how much, by when.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" y="4983480"/>
            <a:ext cx="10911535" cy="777240"/>
          </a:xfrm>
          <a:prstGeom prst="roundRect">
            <a:avLst>
              <a:gd name="adj" fmla="val 10588"/>
            </a:avLst>
          </a:prstGeom>
          <a:solidFill>
            <a:srgbClr val="1E3358"/>
          </a:solidFill>
          <a:ln w="12700">
            <a:solidFill>
              <a:srgbClr val="D98E0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2" name="Text 20"/>
          <p:cNvSpPr txBox="1"/>
          <p:nvPr/>
        </p:nvSpPr>
        <p:spPr>
          <a:xfrm>
            <a:off x="914400" y="4983480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recommendations come last, filtered by the affordable figure — never by the aspirational one.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9260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2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JOURNEY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5720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2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steps, ninety seconds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2487168" cy="2148840"/>
          </a:xfrm>
          <a:prstGeom prst="roundRect">
            <a:avLst>
              <a:gd name="adj" fmla="val 3830"/>
            </a:avLst>
          </a:prstGeom>
          <a:solidFill>
            <a:srgbClr val="F1F4F8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5" name="Shape 3"/>
          <p:cNvSpPr/>
          <p:nvPr/>
        </p:nvSpPr>
        <p:spPr>
          <a:xfrm>
            <a:off x="914400" y="1965960"/>
            <a:ext cx="420624" cy="420624"/>
          </a:xfrm>
          <a:prstGeom prst="ellipse">
            <a:avLst/>
          </a:prstGeom>
          <a:solidFill>
            <a:srgbClr val="12213A"/>
          </a:solidFill>
          <a:ln w="12700">
            <a:solidFill>
              <a:srgbClr val="12213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" name="Text 4"/>
          <p:cNvSpPr txBox="1"/>
          <p:nvPr/>
        </p:nvSpPr>
        <p:spPr>
          <a:xfrm>
            <a:off x="914400" y="1965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514600"/>
            <a:ext cx="1938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2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Snap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926080"/>
            <a:ext cx="19385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4A5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photographs payslip and EPF statement in chat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3172968" y="251460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3493008" y="1737360"/>
            <a:ext cx="2487168" cy="2148840"/>
          </a:xfrm>
          <a:prstGeom prst="roundRect">
            <a:avLst>
              <a:gd name="adj" fmla="val 3830"/>
            </a:avLst>
          </a:prstGeom>
          <a:solidFill>
            <a:srgbClr val="F1F4F8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1" name="Shape 9"/>
          <p:cNvSpPr/>
          <p:nvPr/>
        </p:nvSpPr>
        <p:spPr>
          <a:xfrm>
            <a:off x="3767328" y="1965960"/>
            <a:ext cx="420624" cy="420624"/>
          </a:xfrm>
          <a:prstGeom prst="ellipse">
            <a:avLst/>
          </a:prstGeom>
          <a:solidFill>
            <a:srgbClr val="12213A"/>
          </a:solidFill>
          <a:ln w="12700">
            <a:solidFill>
              <a:srgbClr val="12213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2" name="Text 10"/>
          <p:cNvSpPr txBox="1"/>
          <p:nvPr/>
        </p:nvSpPr>
        <p:spPr>
          <a:xfrm>
            <a:off x="3767328" y="1965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767328" y="2514600"/>
            <a:ext cx="1938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2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Extract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3767328" y="2926080"/>
            <a:ext cx="19385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4A5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reads the documents multimodally into structured fields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025896" y="251460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6345936" y="1737360"/>
            <a:ext cx="2487168" cy="2148840"/>
          </a:xfrm>
          <a:prstGeom prst="roundRect">
            <a:avLst>
              <a:gd name="adj" fmla="val 3830"/>
            </a:avLst>
          </a:prstGeom>
          <a:solidFill>
            <a:srgbClr val="F1F4F8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7" name="Shape 15"/>
          <p:cNvSpPr/>
          <p:nvPr/>
        </p:nvSpPr>
        <p:spPr>
          <a:xfrm>
            <a:off x="6620256" y="1965960"/>
            <a:ext cx="420624" cy="420624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8" name="Text 16"/>
          <p:cNvSpPr txBox="1"/>
          <p:nvPr/>
        </p:nvSpPr>
        <p:spPr>
          <a:xfrm>
            <a:off x="6620256" y="1965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620256" y="2514600"/>
            <a:ext cx="1938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2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Simulate</a:t>
            </a:r>
            <a:endParaRPr lang="en-US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6620256" y="2926080"/>
            <a:ext cx="19385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4A5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Affordability engine and life scenarios run as called tools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878824" y="251460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22" name="Shape 20"/>
          <p:cNvSpPr/>
          <p:nvPr/>
        </p:nvSpPr>
        <p:spPr>
          <a:xfrm>
            <a:off x="9198864" y="1737360"/>
            <a:ext cx="2487168" cy="2148840"/>
          </a:xfrm>
          <a:prstGeom prst="roundRect">
            <a:avLst>
              <a:gd name="adj" fmla="val 3830"/>
            </a:avLst>
          </a:prstGeom>
          <a:solidFill>
            <a:srgbClr val="F1F4F8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23" name="Shape 21"/>
          <p:cNvSpPr/>
          <p:nvPr/>
        </p:nvSpPr>
        <p:spPr>
          <a:xfrm>
            <a:off x="9473184" y="1965960"/>
            <a:ext cx="420624" cy="420624"/>
          </a:xfrm>
          <a:prstGeom prst="ellipse">
            <a:avLst/>
          </a:prstGeom>
          <a:solidFill>
            <a:srgbClr val="1B8A5A"/>
          </a:solidFill>
          <a:ln w="12700">
            <a:solidFill>
              <a:srgbClr val="1B8A5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4" name="Text 22"/>
          <p:cNvSpPr txBox="1"/>
          <p:nvPr/>
        </p:nvSpPr>
        <p:spPr>
          <a:xfrm>
            <a:off x="9473184" y="1965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9473184" y="2514600"/>
            <a:ext cx="1938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2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Verdict</a:t>
            </a:r>
            <a:endParaRPr lang="en-US" sz="1900" dirty="0"/>
          </a:p>
        </p:txBody>
      </p:sp>
      <p:sp>
        <p:nvSpPr>
          <p:cNvPr id="26" name="Text 24"/>
          <p:cNvSpPr txBox="1"/>
          <p:nvPr/>
        </p:nvSpPr>
        <p:spPr>
          <a:xfrm>
            <a:off x="9473184" y="2926080"/>
            <a:ext cx="19385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4A5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Plain-language risk report, with a path forward if the answer is no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40080" y="420624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buyer never has to do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640080" y="46177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4A5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forms.   ·   No manual income entry.   ·   No knowledge of debt service ratio, SBR, or EPF withdrawal rules.   ·   No agent required.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40080" y="5212080"/>
            <a:ext cx="10911535" cy="868680"/>
          </a:xfrm>
          <a:prstGeom prst="roundRect">
            <a:avLst>
              <a:gd name="adj" fmla="val 9474"/>
            </a:avLst>
          </a:prstGeom>
          <a:solidFill>
            <a:srgbClr val="E6F3ED"/>
          </a:solidFill>
          <a:ln w="12700">
            <a:solidFill>
              <a:srgbClr val="BFE0D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0" name="Text 28"/>
          <p:cNvSpPr txBox="1"/>
          <p:nvPr/>
        </p:nvSpPr>
        <p:spPr>
          <a:xfrm>
            <a:off x="914400" y="5212080"/>
            <a:ext cx="103628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entire interaction happens in the channel Malaysians already use. Chat first, dashboard second.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21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9260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MERIT  ·  40% OF SCORING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5720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Gemini reasons. Tools decide. Nothing is guessed.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434840" y="2148840"/>
            <a:ext cx="3337560" cy="1371600"/>
          </a:xfrm>
          <a:prstGeom prst="roundRect">
            <a:avLst>
              <a:gd name="adj" fmla="val 6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5" name="Text 3"/>
          <p:cNvSpPr txBox="1"/>
          <p:nvPr/>
        </p:nvSpPr>
        <p:spPr>
          <a:xfrm>
            <a:off x="4434840" y="228600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2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Gemini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4434840" y="2761488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5A4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intake  ·  reasoning</a:t>
            </a:r>
            <a:endParaRPr lang="en-US" sz="115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5A4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calling  ·  explanation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80" y="2103120"/>
            <a:ext cx="3063240" cy="457200"/>
          </a:xfrm>
          <a:prstGeom prst="roundRect">
            <a:avLst>
              <a:gd name="adj" fmla="val 18000"/>
            </a:avLst>
          </a:prstGeom>
          <a:solidFill>
            <a:srgbClr val="1E3358"/>
          </a:solidFill>
          <a:ln w="12700">
            <a:solidFill>
              <a:srgbClr val="1E3358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8" name="Text 6"/>
          <p:cNvSpPr txBox="1"/>
          <p:nvPr/>
        </p:nvSpPr>
        <p:spPr>
          <a:xfrm>
            <a:off x="822960" y="21031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Payslip image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670048"/>
            <a:ext cx="3063240" cy="457200"/>
          </a:xfrm>
          <a:prstGeom prst="roundRect">
            <a:avLst>
              <a:gd name="adj" fmla="val 18000"/>
            </a:avLst>
          </a:prstGeom>
          <a:solidFill>
            <a:srgbClr val="1E3358"/>
          </a:solidFill>
          <a:ln w="12700">
            <a:solidFill>
              <a:srgbClr val="1E3358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0" name="Text 8"/>
          <p:cNvSpPr txBox="1"/>
          <p:nvPr/>
        </p:nvSpPr>
        <p:spPr>
          <a:xfrm>
            <a:off x="822960" y="267004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EPF statement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3236976"/>
            <a:ext cx="3063240" cy="457200"/>
          </a:xfrm>
          <a:prstGeom prst="roundRect">
            <a:avLst>
              <a:gd name="adj" fmla="val 18000"/>
            </a:avLst>
          </a:prstGeom>
          <a:solidFill>
            <a:srgbClr val="1E3358"/>
          </a:solidFill>
          <a:ln w="12700">
            <a:solidFill>
              <a:srgbClr val="1E3358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2" name="Text 10"/>
          <p:cNvSpPr txBox="1"/>
          <p:nvPr/>
        </p:nvSpPr>
        <p:spPr>
          <a:xfrm>
            <a:off x="822960" y="323697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in BM / EN / 中文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17373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A9B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3794760" y="251460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A9B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0" y="251460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A9B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200" name="ToolBox 0"/>
          <p:cNvSpPr/>
          <p:nvPr/>
        </p:nvSpPr>
        <p:spPr>
          <a:xfrm>
            <a:off x="8183880" y="1800000"/>
            <a:ext cx="3383280" cy="390000"/>
          </a:xfrm>
          <a:prstGeom prst="roundRect">
            <a:avLst>
              <a:gd name="adj" fmla="val 18000"/>
            </a:avLst>
          </a:prstGeom>
          <a:solidFill>
            <a:srgbClr val="1E3358"/>
          </a:solidFill>
          <a:ln w="12700">
            <a:solidFill>
              <a:srgbClr val="3D5A87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01" name="ToolText 0"/>
          <p:cNvSpPr txBox="1"/>
          <p:nvPr/>
        </p:nvSpPr>
        <p:spPr>
          <a:xfrm>
            <a:off x="8366760" y="1800000"/>
            <a:ext cx="3017520" cy="39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compute_dsr()</a:t>
            </a:r>
            <a:endParaRPr lang="en-US" sz="1200" dirty="0"/>
          </a:p>
        </p:txBody>
      </p:sp>
      <p:sp>
        <p:nvSpPr>
          <p:cNvPr id="202" name="ToolBox 1"/>
          <p:cNvSpPr/>
          <p:nvPr/>
        </p:nvSpPr>
        <p:spPr>
          <a:xfrm>
            <a:off x="8183880" y="2240000"/>
            <a:ext cx="3383280" cy="390000"/>
          </a:xfrm>
          <a:prstGeom prst="roundRect">
            <a:avLst>
              <a:gd name="adj" fmla="val 18000"/>
            </a:avLst>
          </a:prstGeom>
          <a:solidFill>
            <a:srgbClr val="1E3358"/>
          </a:solidFill>
          <a:ln w="12700">
            <a:solidFill>
              <a:srgbClr val="3D5A87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03" name="ToolText 1"/>
          <p:cNvSpPr txBox="1"/>
          <p:nvPr/>
        </p:nvSpPr>
        <p:spPr>
          <a:xfrm>
            <a:off x="8366760" y="2240000"/>
            <a:ext cx="3017520" cy="39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loan_capacity()</a:t>
            </a:r>
            <a:endParaRPr lang="en-US" sz="1200" dirty="0"/>
          </a:p>
        </p:txBody>
      </p:sp>
      <p:sp>
        <p:nvSpPr>
          <p:cNvPr id="204" name="ToolBox 2"/>
          <p:cNvSpPr/>
          <p:nvPr/>
        </p:nvSpPr>
        <p:spPr>
          <a:xfrm>
            <a:off x="8183880" y="2680000"/>
            <a:ext cx="3383280" cy="390000"/>
          </a:xfrm>
          <a:prstGeom prst="roundRect">
            <a:avLst>
              <a:gd name="adj" fmla="val 18000"/>
            </a:avLst>
          </a:prstGeom>
          <a:solidFill>
            <a:srgbClr val="1E3358"/>
          </a:solidFill>
          <a:ln w="12700">
            <a:solidFill>
              <a:srgbClr val="3D5A87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05" name="ToolText 2"/>
          <p:cNvSpPr txBox="1"/>
          <p:nvPr/>
        </p:nvSpPr>
        <p:spPr>
          <a:xfrm>
            <a:off x="8366760" y="2680000"/>
            <a:ext cx="3017520" cy="39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epf_withdrawal()</a:t>
            </a:r>
            <a:endParaRPr lang="en-US" sz="1200" dirty="0"/>
          </a:p>
        </p:txBody>
      </p:sp>
      <p:sp>
        <p:nvSpPr>
          <p:cNvPr id="206" name="ToolBox 3"/>
          <p:cNvSpPr/>
          <p:nvPr/>
        </p:nvSpPr>
        <p:spPr>
          <a:xfrm>
            <a:off x="8183880" y="3120000"/>
            <a:ext cx="3383280" cy="390000"/>
          </a:xfrm>
          <a:prstGeom prst="roundRect">
            <a:avLst>
              <a:gd name="adj" fmla="val 18000"/>
            </a:avLst>
          </a:prstGeom>
          <a:solidFill>
            <a:srgbClr val="1E3358"/>
          </a:solidFill>
          <a:ln w="12700">
            <a:solidFill>
              <a:srgbClr val="3D5A87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07" name="ToolText 3"/>
          <p:cNvSpPr txBox="1"/>
          <p:nvPr/>
        </p:nvSpPr>
        <p:spPr>
          <a:xfrm>
            <a:off x="8366760" y="3120000"/>
            <a:ext cx="3017520" cy="39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location_cost()</a:t>
            </a:r>
            <a:endParaRPr lang="en-US" sz="1200" dirty="0"/>
          </a:p>
        </p:txBody>
      </p:sp>
      <p:sp>
        <p:nvSpPr>
          <p:cNvPr id="208" name="ToolBox 4"/>
          <p:cNvSpPr/>
          <p:nvPr/>
        </p:nvSpPr>
        <p:spPr>
          <a:xfrm>
            <a:off x="8183880" y="3560000"/>
            <a:ext cx="3383280" cy="390000"/>
          </a:xfrm>
          <a:prstGeom prst="roundRect">
            <a:avLst>
              <a:gd name="adj" fmla="val 18000"/>
            </a:avLst>
          </a:prstGeom>
          <a:solidFill>
            <a:srgbClr val="1E3358"/>
          </a:solidFill>
          <a:ln w="12700">
            <a:solidFill>
              <a:srgbClr val="3D5A87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09" name="ToolText 4"/>
          <p:cNvSpPr txBox="1"/>
          <p:nvPr/>
        </p:nvSpPr>
        <p:spPr>
          <a:xfrm>
            <a:off x="8366760" y="3560000"/>
            <a:ext cx="3017520" cy="39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simulate_scenario()</a:t>
            </a:r>
            <a:endParaRPr lang="en-US" sz="1200" dirty="0"/>
          </a:p>
        </p:txBody>
      </p:sp>
      <p:sp>
        <p:nvSpPr>
          <p:cNvPr id="210" name="ToolBox 5"/>
          <p:cNvSpPr/>
          <p:nvPr/>
        </p:nvSpPr>
        <p:spPr>
          <a:xfrm>
            <a:off x="8183880" y="4000000"/>
            <a:ext cx="3383280" cy="390000"/>
          </a:xfrm>
          <a:prstGeom prst="roundRect">
            <a:avLst>
              <a:gd name="adj" fmla="val 18000"/>
            </a:avLst>
          </a:prstGeom>
          <a:solidFill>
            <a:srgbClr val="1E3358"/>
          </a:solidFill>
          <a:ln w="12700">
            <a:solidFill>
              <a:srgbClr val="3D5A87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11" name="ToolText 5"/>
          <p:cNvSpPr txBox="1"/>
          <p:nvPr/>
        </p:nvSpPr>
        <p:spPr>
          <a:xfrm>
            <a:off x="8366760" y="4000000"/>
            <a:ext cx="3017520" cy="39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plan_path_to_approval()</a:t>
            </a:r>
            <a:endParaRPr lang="en-US" sz="1050" dirty="0"/>
          </a:p>
        </p:txBody>
      </p:sp>
      <p:sp>
        <p:nvSpPr>
          <p:cNvPr id="212" name="ToolBox 6"/>
          <p:cNvSpPr/>
          <p:nvPr/>
        </p:nvSpPr>
        <p:spPr>
          <a:xfrm>
            <a:off x="8183880" y="4440000"/>
            <a:ext cx="3383280" cy="390000"/>
          </a:xfrm>
          <a:prstGeom prst="roundRect">
            <a:avLst>
              <a:gd name="adj" fmla="val 18000"/>
            </a:avLst>
          </a:prstGeom>
          <a:solidFill>
            <a:srgbClr val="1E3358"/>
          </a:solidFill>
          <a:ln w="12700">
            <a:solidFill>
              <a:srgbClr val="3D5A87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13" name="ToolText 6"/>
          <p:cNvSpPr txBox="1"/>
          <p:nvPr/>
        </p:nvSpPr>
        <p:spPr>
          <a:xfrm>
            <a:off x="8366760" y="4440000"/>
            <a:ext cx="3017520" cy="39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match_affordable_stock()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8183880" y="14200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A9B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TOOLS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40080" y="5030000"/>
            <a:ext cx="10911535" cy="1143000"/>
          </a:xfrm>
          <a:prstGeom prst="roundRect">
            <a:avLst>
              <a:gd name="adj" fmla="val 7200"/>
            </a:avLst>
          </a:prstGeom>
          <a:solidFill>
            <a:srgbClr val="1E3358"/>
          </a:solidFill>
          <a:ln w="12700">
            <a:solidFill>
              <a:srgbClr val="1E3358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8" name="Text 26"/>
          <p:cNvSpPr txBox="1"/>
          <p:nvPr/>
        </p:nvSpPr>
        <p:spPr>
          <a:xfrm>
            <a:off x="960120" y="5030000"/>
            <a:ext cx="1027145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50" b="1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guardrail:  </a:t>
            </a:r>
            <a:r>
              <a:rPr lang="en-US" sz="1350" dirty="0">
                <a:solidFill>
                  <a:srgbClr val="A9B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never states a financial figure it computed itself. Every number in the verdict comes from a called tool with a recorded input and output, so any advice given can be reconstructed and audited afterwards. Financing output is framed as indicative, never as a lending decision.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9260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2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NUMBERS ARE REAL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5720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2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rules engine built on Malaysian mechanics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520440" cy="1234440"/>
          </a:xfrm>
          <a:prstGeom prst="roundRect">
            <a:avLst>
              <a:gd name="adj" fmla="val 6667"/>
            </a:avLst>
          </a:prstGeom>
          <a:solidFill>
            <a:srgbClr val="F1F4F8"/>
          </a:solidFill>
          <a:ln w="12700">
            <a:solidFill>
              <a:srgbClr val="DCE3E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5" name="Text 3"/>
          <p:cNvSpPr txBox="1"/>
          <p:nvPr/>
        </p:nvSpPr>
        <p:spPr>
          <a:xfrm>
            <a:off x="868680" y="1837944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rate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148840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4A5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SBR pegged to OPR at 2.75%, with effective housing rates clustering around 4.2–4.4% for strong applicants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480560" y="1691640"/>
            <a:ext cx="3520440" cy="1234440"/>
          </a:xfrm>
          <a:prstGeom prst="roundRect">
            <a:avLst>
              <a:gd name="adj" fmla="val 6667"/>
            </a:avLst>
          </a:prstGeom>
          <a:solidFill>
            <a:srgbClr val="F1F4F8"/>
          </a:solidFill>
          <a:ln w="12700">
            <a:solidFill>
              <a:srgbClr val="DCE3E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8" name="Text 6"/>
          <p:cNvSpPr txBox="1"/>
          <p:nvPr/>
        </p:nvSpPr>
        <p:spPr>
          <a:xfrm>
            <a:off x="4709160" y="1837944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 service ratio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4709160" y="2148840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4A5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 on net income after statutory deductions, including all existing commitments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321040" y="1691640"/>
            <a:ext cx="3520440" cy="1234440"/>
          </a:xfrm>
          <a:prstGeom prst="roundRect">
            <a:avLst>
              <a:gd name="adj" fmla="val 6667"/>
            </a:avLst>
          </a:prstGeom>
          <a:solidFill>
            <a:srgbClr val="F1F4F8"/>
          </a:solidFill>
          <a:ln w="12700">
            <a:solidFill>
              <a:srgbClr val="DCE3E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1" name="Text 9"/>
          <p:cNvSpPr txBox="1"/>
          <p:nvPr/>
        </p:nvSpPr>
        <p:spPr>
          <a:xfrm>
            <a:off x="8549640" y="1837944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EPF down payment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8549640" y="2148840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4A5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Akaun Sejahtera balance under the May 2024 three-account structure — not the pre-2024 assumption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3218688"/>
            <a:ext cx="3520440" cy="1234440"/>
          </a:xfrm>
          <a:prstGeom prst="roundRect">
            <a:avLst>
              <a:gd name="adj" fmla="val 6667"/>
            </a:avLst>
          </a:prstGeom>
          <a:solidFill>
            <a:srgbClr val="F1F4F8"/>
          </a:solidFill>
          <a:ln w="12700">
            <a:solidFill>
              <a:srgbClr val="DCE3E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4" name="Text 12"/>
          <p:cNvSpPr txBox="1"/>
          <p:nvPr/>
        </p:nvSpPr>
        <p:spPr>
          <a:xfrm>
            <a:off x="868680" y="3364992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Upfront costs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3675888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4A5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 payment, stamp duty on transfer and on the loan, legal and disbursement fees, valuation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480560" y="3218688"/>
            <a:ext cx="3520440" cy="1234440"/>
          </a:xfrm>
          <a:prstGeom prst="roundRect">
            <a:avLst>
              <a:gd name="adj" fmla="val 6667"/>
            </a:avLst>
          </a:prstGeom>
          <a:solidFill>
            <a:srgbClr val="F1F4F8"/>
          </a:solidFill>
          <a:ln w="12700">
            <a:solidFill>
              <a:srgbClr val="DCE3E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7" name="Text 15"/>
          <p:cNvSpPr txBox="1"/>
          <p:nvPr/>
        </p:nvSpPr>
        <p:spPr>
          <a:xfrm>
            <a:off x="4709160" y="3364992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 limits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4709160" y="3675888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4A5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 capped by age at maturity, which materially changes monthly capacity for older applicants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321040" y="3218688"/>
            <a:ext cx="3520440" cy="1234440"/>
          </a:xfrm>
          <a:prstGeom prst="roundRect">
            <a:avLst>
              <a:gd name="adj" fmla="val 6667"/>
            </a:avLst>
          </a:prstGeom>
          <a:solidFill>
            <a:srgbClr val="F1F4F8"/>
          </a:solidFill>
          <a:ln w="12700">
            <a:solidFill>
              <a:srgbClr val="DCE3E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0" name="Text 18"/>
          <p:cNvSpPr txBox="1"/>
          <p:nvPr/>
        </p:nvSpPr>
        <p:spPr>
          <a:xfrm>
            <a:off x="8549640" y="3364992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of finance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8549640" y="3675888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4A5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Tighter financing margin applies to third and subsequent housing loans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" y="4892040"/>
            <a:ext cx="10911535" cy="914400"/>
          </a:xfrm>
          <a:prstGeom prst="roundRect">
            <a:avLst>
              <a:gd name="adj" fmla="val 9000"/>
            </a:avLst>
          </a:prstGeom>
          <a:solidFill>
            <a:srgbClr val="FDF3E0"/>
          </a:solidFill>
          <a:ln w="12700">
            <a:solidFill>
              <a:srgbClr val="F0DCB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3" name="Text 21"/>
          <p:cNvSpPr txBox="1"/>
          <p:nvPr/>
        </p:nvSpPr>
        <p:spPr>
          <a:xfrm>
            <a:off x="914400" y="4892040"/>
            <a:ext cx="103628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8A6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parameter is configuration, not hard-coded. When Bank Negara moves the OPR, the engine updates — the model does not need retraining.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6291072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3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Rates as at the SBR level held since the July 2025 OPR decision. Verify against Bank Negara Malaysia before relying on any figure.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9260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INNOVATION  ·  25% OF SCORING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5720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2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Approval is a moment. Affordability is a decade.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00200"/>
            <a:ext cx="4114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3A4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bank asks whether you can service the loan today. </a:t>
            </a:r>
            <a:r>
              <a:rPr lang="en-US" sz="1400" dirty="0" err="1">
                <a:solidFill>
                  <a:srgbClr val="3A4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LifeNest</a:t>
            </a:r>
            <a:r>
              <a:rPr lang="en-US" sz="1400" dirty="0">
                <a:solidFill>
                  <a:srgbClr val="3A4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asks whether you can service it through the things that actually happen to a household.</a:t>
            </a:r>
            <a:endParaRPr lang="en-US" sz="1400" dirty="0"/>
          </a:p>
          <a:p>
            <a:pPr marL="0" indent="0" algn="l">
              <a:lnSpc>
                <a:spcPts val="2100"/>
              </a:lnSpc>
              <a:buNone/>
            </a:pPr>
            <a:endParaRPr lang="en-US" sz="140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3A4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scenario re-runs the full cashflow model and reports the month the buffer runs out.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3520440"/>
            <a:ext cx="1298448" cy="292608"/>
          </a:xfrm>
          <a:prstGeom prst="roundRect">
            <a:avLst>
              <a:gd name="adj" fmla="val 53125"/>
            </a:avLst>
          </a:prstGeom>
          <a:solidFill>
            <a:srgbClr val="1B8A5A"/>
          </a:solidFill>
          <a:ln w="12700">
            <a:solidFill>
              <a:srgbClr val="1B8A5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" name="Text 4"/>
          <p:cNvSpPr txBox="1"/>
          <p:nvPr/>
        </p:nvSpPr>
        <p:spPr>
          <a:xfrm>
            <a:off x="640080" y="3520440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057400" y="3520440"/>
            <a:ext cx="1298448" cy="292608"/>
          </a:xfrm>
          <a:prstGeom prst="roundRect">
            <a:avLst>
              <a:gd name="adj" fmla="val 53125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8" name="Text 6"/>
          <p:cNvSpPr txBox="1"/>
          <p:nvPr/>
        </p:nvSpPr>
        <p:spPr>
          <a:xfrm>
            <a:off x="2057400" y="3520440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2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RISK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474720" y="3520440"/>
            <a:ext cx="1298448" cy="292608"/>
          </a:xfrm>
          <a:prstGeom prst="roundRect">
            <a:avLst>
              <a:gd name="adj" fmla="val 53125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0" name="Text 8"/>
          <p:cNvSpPr txBox="1"/>
          <p:nvPr/>
        </p:nvSpPr>
        <p:spPr>
          <a:xfrm>
            <a:off x="3474720" y="3520440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4526280"/>
            <a:ext cx="4114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50" dirty="0">
                <a:solidFill>
                  <a:srgbClr val="4658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verdict is not a score. It is a sentence a person can act on:</a:t>
            </a:r>
            <a:endParaRPr lang="en-US" sz="1250" dirty="0"/>
          </a:p>
          <a:p>
            <a:pPr marL="0" indent="0" algn="l">
              <a:lnSpc>
                <a:spcPts val="1800"/>
              </a:lnSpc>
              <a:buNone/>
            </a:pPr>
            <a:endParaRPr lang="en-US" sz="125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250" dirty="0">
                <a:solidFill>
                  <a:srgbClr val="4658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 can afford this unit today, but a first child in year three leaves you RM240 short each month. At RM520,000 you stay positive in every scenario."</a:t>
            </a:r>
            <a:endParaRPr lang="en-US" sz="1250" dirty="0"/>
          </a:p>
        </p:txBody>
      </p:sp>
      <p:graphicFrame>
        <p:nvGraphicFramePr>
          <p:cNvPr id="12" name="Chart 0"/>
          <p:cNvGraphicFramePr/>
          <p:nvPr/>
        </p:nvGraphicFramePr>
        <p:xfrm>
          <a:off x="5120640" y="1600200"/>
          <a:ext cx="6400800" cy="4434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21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9260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ORIGINALITY &amp; DIFFERENTIATION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5720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Everyone builds the search. Nobody builds the brake.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532888" cy="2880360"/>
          </a:xfrm>
          <a:prstGeom prst="roundRect">
            <a:avLst>
              <a:gd name="adj" fmla="val 3249"/>
            </a:avLst>
          </a:prstGeom>
          <a:solidFill>
            <a:srgbClr val="1E3358"/>
          </a:solidFill>
          <a:ln w="12700">
            <a:solidFill>
              <a:srgbClr val="2C447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5" name="Text 3"/>
          <p:cNvSpPr txBox="1"/>
          <p:nvPr/>
        </p:nvSpPr>
        <p:spPr>
          <a:xfrm>
            <a:off x="896112" y="2084832"/>
            <a:ext cx="20208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Loan calculators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2834640"/>
            <a:ext cx="202082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A9B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you to type numbers you do not know, apply one generic formula, and ignore your actual commitments.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29000" y="1828800"/>
            <a:ext cx="2532888" cy="2880360"/>
          </a:xfrm>
          <a:prstGeom prst="roundRect">
            <a:avLst>
              <a:gd name="adj" fmla="val 3249"/>
            </a:avLst>
          </a:prstGeom>
          <a:solidFill>
            <a:srgbClr val="1E3358"/>
          </a:solidFill>
          <a:ln w="12700">
            <a:solidFill>
              <a:srgbClr val="2C447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8" name="Text 6"/>
          <p:cNvSpPr txBox="1"/>
          <p:nvPr/>
        </p:nvSpPr>
        <p:spPr>
          <a:xfrm>
            <a:off x="3685032" y="2084832"/>
            <a:ext cx="20208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Property portals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3685032" y="2834640"/>
            <a:ext cx="202082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A9B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Optimised to show you more property, at higher prices. Their incentive is the opposite of yours.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1828800"/>
            <a:ext cx="2532888" cy="2880360"/>
          </a:xfrm>
          <a:prstGeom prst="roundRect">
            <a:avLst>
              <a:gd name="adj" fmla="val 3249"/>
            </a:avLst>
          </a:prstGeom>
          <a:solidFill>
            <a:srgbClr val="1E3358"/>
          </a:solidFill>
          <a:ln w="12700">
            <a:solidFill>
              <a:srgbClr val="2C447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1" name="Text 9"/>
          <p:cNvSpPr txBox="1"/>
          <p:nvPr/>
        </p:nvSpPr>
        <p:spPr>
          <a:xfrm>
            <a:off x="6473952" y="2084832"/>
            <a:ext cx="20208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Bank pre-approval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473952" y="2834640"/>
            <a:ext cx="202082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A9B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Accurate, but it arrives at the end of the journey — after viewing, after the booking fee, after the emotional commitment.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006840" y="1828800"/>
            <a:ext cx="2532888" cy="2880360"/>
          </a:xfrm>
          <a:prstGeom prst="roundRect">
            <a:avLst>
              <a:gd name="adj" fmla="val 3249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4" name="Text 12"/>
          <p:cNvSpPr txBox="1"/>
          <p:nvPr/>
        </p:nvSpPr>
        <p:spPr>
          <a:xfrm>
            <a:off x="9262872" y="2084832"/>
            <a:ext cx="20208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12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LifeNest</a:t>
            </a:r>
            <a:r>
              <a:rPr lang="en-US" sz="1600" b="1" dirty="0">
                <a:solidFill>
                  <a:srgbClr val="12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AI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9262872" y="2834640"/>
            <a:ext cx="202082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4A3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your real documents, computes what a bank would lend, stress-tests the next decade, and says no when the answer is no.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5029200"/>
            <a:ext cx="10911535" cy="960120"/>
          </a:xfrm>
          <a:prstGeom prst="roundRect">
            <a:avLst>
              <a:gd name="adj" fmla="val 8571"/>
            </a:avLst>
          </a:prstGeom>
          <a:solidFill>
            <a:srgbClr val="1E3358"/>
          </a:solidFill>
          <a:ln w="12700">
            <a:solidFill>
              <a:srgbClr val="1E3358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7" name="Text 15"/>
          <p:cNvSpPr txBox="1"/>
          <p:nvPr/>
        </p:nvSpPr>
        <p:spPr>
          <a:xfrm>
            <a:off x="960120" y="5029200"/>
            <a:ext cx="1027145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other product in this market is paid to say yes. A tool whose value is telling you no has to be built by someone who is not taking a commission on the sale.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9260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2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IMPACT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5720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2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computation, four beneficiaries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911535" cy="841248"/>
          </a:xfrm>
          <a:prstGeom prst="roundRect">
            <a:avLst>
              <a:gd name="adj" fmla="val 9783"/>
            </a:avLst>
          </a:prstGeom>
          <a:solidFill>
            <a:srgbClr val="F1F4F8"/>
          </a:solidFill>
          <a:ln w="12700">
            <a:solidFill>
              <a:srgbClr val="DCE3E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5" name="Shape 3"/>
          <p:cNvSpPr/>
          <p:nvPr/>
        </p:nvSpPr>
        <p:spPr>
          <a:xfrm>
            <a:off x="914400" y="1956816"/>
            <a:ext cx="310896" cy="310896"/>
          </a:xfrm>
          <a:prstGeom prst="ellipse">
            <a:avLst/>
          </a:prstGeom>
          <a:solidFill>
            <a:srgbClr val="1B8A5A"/>
          </a:solidFill>
          <a:ln w="12700">
            <a:solidFill>
              <a:srgbClr val="1B8A5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" name="Text 4"/>
          <p:cNvSpPr txBox="1"/>
          <p:nvPr/>
        </p:nvSpPr>
        <p:spPr>
          <a:xfrm>
            <a:off x="1417320" y="1691640"/>
            <a:ext cx="1920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buyer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3383280" y="1691640"/>
            <a:ext cx="780257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5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Avoids an eleven-week rejection, a forfeited booking fee, and a mortgage that breaks when the first child arrives.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624328"/>
            <a:ext cx="10911535" cy="841248"/>
          </a:xfrm>
          <a:prstGeom prst="roundRect">
            <a:avLst>
              <a:gd name="adj" fmla="val 9783"/>
            </a:avLst>
          </a:prstGeom>
          <a:solidFill>
            <a:srgbClr val="F1F4F8"/>
          </a:solidFill>
          <a:ln w="12700">
            <a:solidFill>
              <a:srgbClr val="DCE3E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9" name="Shape 7"/>
          <p:cNvSpPr/>
          <p:nvPr/>
        </p:nvSpPr>
        <p:spPr>
          <a:xfrm>
            <a:off x="914400" y="2889504"/>
            <a:ext cx="310896" cy="310896"/>
          </a:xfrm>
          <a:prstGeom prst="ellipse">
            <a:avLst/>
          </a:prstGeom>
          <a:solidFill>
            <a:srgbClr val="12213A"/>
          </a:solidFill>
          <a:ln w="12700">
            <a:solidFill>
              <a:srgbClr val="12213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0" name="Text 8"/>
          <p:cNvSpPr txBox="1"/>
          <p:nvPr/>
        </p:nvSpPr>
        <p:spPr>
          <a:xfrm>
            <a:off x="1417320" y="2624328"/>
            <a:ext cx="1920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agency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383280" y="2624328"/>
            <a:ext cx="780257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5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Viewings are spent on buyers who can complete. Agent time stops being consumed by applications destined to fail.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557016"/>
            <a:ext cx="10911535" cy="841248"/>
          </a:xfrm>
          <a:prstGeom prst="roundRect">
            <a:avLst>
              <a:gd name="adj" fmla="val 9783"/>
            </a:avLst>
          </a:prstGeom>
          <a:solidFill>
            <a:srgbClr val="F1F4F8"/>
          </a:solidFill>
          <a:ln w="12700">
            <a:solidFill>
              <a:srgbClr val="DCE3E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3" name="Shape 11"/>
          <p:cNvSpPr/>
          <p:nvPr/>
        </p:nvSpPr>
        <p:spPr>
          <a:xfrm>
            <a:off x="914400" y="3822192"/>
            <a:ext cx="310896" cy="310896"/>
          </a:xfrm>
          <a:prstGeom prst="ellipse">
            <a:avLst/>
          </a:prstGeom>
          <a:solidFill>
            <a:srgbClr val="12213A"/>
          </a:solidFill>
          <a:ln w="12700">
            <a:solidFill>
              <a:srgbClr val="12213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4" name="Text 12"/>
          <p:cNvSpPr txBox="1"/>
          <p:nvPr/>
        </p:nvSpPr>
        <p:spPr>
          <a:xfrm>
            <a:off x="1417320" y="3557016"/>
            <a:ext cx="1920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developer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383280" y="3557016"/>
            <a:ext cx="780257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5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Take-up rate protected. Bookings convert to sales instead of collapsing at the financing stage.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489704"/>
            <a:ext cx="10911535" cy="841248"/>
          </a:xfrm>
          <a:prstGeom prst="roundRect">
            <a:avLst>
              <a:gd name="adj" fmla="val 9783"/>
            </a:avLst>
          </a:prstGeom>
          <a:solidFill>
            <a:srgbClr val="F1F4F8"/>
          </a:solidFill>
          <a:ln w="12700">
            <a:solidFill>
              <a:srgbClr val="DCE3E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7" name="Shape 15"/>
          <p:cNvSpPr/>
          <p:nvPr/>
        </p:nvSpPr>
        <p:spPr>
          <a:xfrm>
            <a:off x="914400" y="4754880"/>
            <a:ext cx="310896" cy="310896"/>
          </a:xfrm>
          <a:prstGeom prst="ellipse">
            <a:avLst/>
          </a:prstGeom>
          <a:solidFill>
            <a:srgbClr val="12213A"/>
          </a:solidFill>
          <a:ln w="12700">
            <a:solidFill>
              <a:srgbClr val="12213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8" name="Text 16"/>
          <p:cNvSpPr txBox="1"/>
          <p:nvPr/>
        </p:nvSpPr>
        <p:spPr>
          <a:xfrm>
            <a:off x="1417320" y="4489704"/>
            <a:ext cx="1920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lender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3383280" y="4489704"/>
            <a:ext cx="780257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5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Better-prepared applicants, fewer wasted assessments, and buyers who arrive already understanding their own position.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5486400"/>
            <a:ext cx="10911535" cy="868680"/>
          </a:xfrm>
          <a:prstGeom prst="roundRect">
            <a:avLst>
              <a:gd name="adj" fmla="val 9474"/>
            </a:avLst>
          </a:prstGeom>
          <a:solidFill>
            <a:srgbClr val="12213A"/>
          </a:solidFill>
          <a:ln w="12700">
            <a:solidFill>
              <a:srgbClr val="12213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1" name="Text 19"/>
          <p:cNvSpPr txBox="1"/>
          <p:nvPr/>
        </p:nvSpPr>
        <p:spPr>
          <a:xfrm>
            <a:off x="960120" y="5486400"/>
            <a:ext cx="1027145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 over-indebtedness is a systemic risk, not only a personal misfortune. Screening it at the point of decision is cheaper than resolving it at the point of default.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9260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2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 &amp; SUSTAINABILITY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5720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2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same engine, three financed decisions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419856" cy="2286000"/>
          </a:xfrm>
          <a:prstGeom prst="roundRect">
            <a:avLst>
              <a:gd name="adj" fmla="val 3600"/>
            </a:avLst>
          </a:prstGeom>
          <a:solidFill>
            <a:srgbClr val="F1F4F8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5" name="Shape 3"/>
          <p:cNvSpPr/>
          <p:nvPr/>
        </p:nvSpPr>
        <p:spPr>
          <a:xfrm>
            <a:off x="896112" y="1965960"/>
            <a:ext cx="914400" cy="274320"/>
          </a:xfrm>
          <a:prstGeom prst="roundRect">
            <a:avLst>
              <a:gd name="adj" fmla="val 56667"/>
            </a:avLst>
          </a:prstGeom>
          <a:solidFill>
            <a:srgbClr val="1B8A5A"/>
          </a:solidFill>
          <a:ln w="12700">
            <a:solidFill>
              <a:srgbClr val="1B8A5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" name="Text 4"/>
          <p:cNvSpPr txBox="1"/>
          <p:nvPr/>
        </p:nvSpPr>
        <p:spPr>
          <a:xfrm>
            <a:off x="896112" y="1965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2359152"/>
            <a:ext cx="2907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2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Property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896112" y="2852928"/>
            <a:ext cx="29077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4A5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Mortgage capacity, EPF down payment, stamp duty and legal costs, 30-year stress test.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79976" y="1737360"/>
            <a:ext cx="3419856" cy="2286000"/>
          </a:xfrm>
          <a:prstGeom prst="roundRect">
            <a:avLst>
              <a:gd name="adj" fmla="val 3600"/>
            </a:avLst>
          </a:prstGeom>
          <a:solidFill>
            <a:srgbClr val="F1F4F8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0" name="Shape 8"/>
          <p:cNvSpPr/>
          <p:nvPr/>
        </p:nvSpPr>
        <p:spPr>
          <a:xfrm>
            <a:off x="4636008" y="1965960"/>
            <a:ext cx="914400" cy="274320"/>
          </a:xfrm>
          <a:prstGeom prst="roundRect">
            <a:avLst>
              <a:gd name="adj" fmla="val 56667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1" name="Text 9"/>
          <p:cNvSpPr txBox="1"/>
          <p:nvPr/>
        </p:nvSpPr>
        <p:spPr>
          <a:xfrm>
            <a:off x="4636008" y="1965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636008" y="2359152"/>
            <a:ext cx="2907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2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Automotive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4636008" y="2852928"/>
            <a:ext cx="29077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4A5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 purchase affordability, tenure and residual value, total cost of ownership including insurance and fuel.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19872" y="1737360"/>
            <a:ext cx="3419856" cy="2286000"/>
          </a:xfrm>
          <a:prstGeom prst="roundRect">
            <a:avLst>
              <a:gd name="adj" fmla="val 3600"/>
            </a:avLst>
          </a:prstGeom>
          <a:solidFill>
            <a:srgbClr val="F1F4F8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5" name="Shape 13"/>
          <p:cNvSpPr/>
          <p:nvPr/>
        </p:nvSpPr>
        <p:spPr>
          <a:xfrm>
            <a:off x="8375904" y="1965960"/>
            <a:ext cx="914400" cy="274320"/>
          </a:xfrm>
          <a:prstGeom prst="roundRect">
            <a:avLst>
              <a:gd name="adj" fmla="val 56667"/>
            </a:avLst>
          </a:prstGeom>
          <a:solidFill>
            <a:srgbClr val="6B7C93"/>
          </a:solidFill>
          <a:ln w="12700">
            <a:solidFill>
              <a:srgbClr val="6B7C93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6" name="Text 14"/>
          <p:cNvSpPr txBox="1"/>
          <p:nvPr/>
        </p:nvSpPr>
        <p:spPr>
          <a:xfrm>
            <a:off x="8375904" y="1965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8375904" y="2359152"/>
            <a:ext cx="2907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2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Insurance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8375904" y="2852928"/>
            <a:ext cx="29077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4A5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adequacy against household liabilities, protection gap, premium sustainability.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42976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they share one engine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4709160"/>
            <a:ext cx="10881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350" dirty="0">
                <a:solidFill>
                  <a:srgbClr val="3A4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are high-value, financed decisions closed by a commissioned agent, where the buyer's real constraint is affordability and the seller's incentive is to overlook it. The document intake, the debt service computation, the scenario simulation and the plain-language verdict are identical. Only the product rules change — and those are configuration.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221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9260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GOOGLE CLOUD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5720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Deployed, not demoed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520440" cy="1097280"/>
          </a:xfrm>
          <a:prstGeom prst="roundRect">
            <a:avLst>
              <a:gd name="adj" fmla="val 7500"/>
            </a:avLst>
          </a:prstGeom>
          <a:solidFill>
            <a:srgbClr val="1E3358"/>
          </a:solidFill>
          <a:ln w="12700">
            <a:solidFill>
              <a:srgbClr val="1E3358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5" name="Text 3"/>
          <p:cNvSpPr txBox="1"/>
          <p:nvPr/>
        </p:nvSpPr>
        <p:spPr>
          <a:xfrm>
            <a:off x="868680" y="1819656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112264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A9B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document understanding, reasoning, function calling, multilingual generation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480560" y="1691640"/>
            <a:ext cx="3520440" cy="1097280"/>
          </a:xfrm>
          <a:prstGeom prst="roundRect">
            <a:avLst>
              <a:gd name="adj" fmla="val 7500"/>
            </a:avLst>
          </a:prstGeom>
          <a:solidFill>
            <a:srgbClr val="1E3358"/>
          </a:solidFill>
          <a:ln w="12700">
            <a:solidFill>
              <a:srgbClr val="1E3358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8" name="Text 6"/>
          <p:cNvSpPr txBox="1"/>
          <p:nvPr/>
        </p:nvSpPr>
        <p:spPr>
          <a:xfrm>
            <a:off x="4709160" y="1819656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Run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709160" y="2112264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A9B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Containerised API and tool services, scaling to zero between requests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321040" y="1691640"/>
            <a:ext cx="3520440" cy="1097280"/>
          </a:xfrm>
          <a:prstGeom prst="roundRect">
            <a:avLst>
              <a:gd name="adj" fmla="val 7500"/>
            </a:avLst>
          </a:prstGeom>
          <a:solidFill>
            <a:srgbClr val="1E3358"/>
          </a:solidFill>
          <a:ln w="12700">
            <a:solidFill>
              <a:srgbClr val="1E3358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1" name="Text 9"/>
          <p:cNvSpPr txBox="1"/>
          <p:nvPr/>
        </p:nvSpPr>
        <p:spPr>
          <a:xfrm>
            <a:off x="8549640" y="1819656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549640" y="2112264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A9B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front end, authentication, hosting for the public prototype link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0080" y="3044952"/>
            <a:ext cx="3520440" cy="1097280"/>
          </a:xfrm>
          <a:prstGeom prst="roundRect">
            <a:avLst>
              <a:gd name="adj" fmla="val 7500"/>
            </a:avLst>
          </a:prstGeom>
          <a:solidFill>
            <a:srgbClr val="1E3358"/>
          </a:solidFill>
          <a:ln w="12700">
            <a:solidFill>
              <a:srgbClr val="1E3358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4" name="Text 12"/>
          <p:cNvSpPr txBox="1"/>
          <p:nvPr/>
        </p:nvSpPr>
        <p:spPr>
          <a:xfrm>
            <a:off x="868680" y="317296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Firestore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3465576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A9B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state, extracted profiles, scenario results, tool-call audit trail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480560" y="3044952"/>
            <a:ext cx="3520440" cy="1097280"/>
          </a:xfrm>
          <a:prstGeom prst="roundRect">
            <a:avLst>
              <a:gd name="adj" fmla="val 7500"/>
            </a:avLst>
          </a:prstGeom>
          <a:solidFill>
            <a:srgbClr val="1E3358"/>
          </a:solidFill>
          <a:ln w="12700">
            <a:solidFill>
              <a:srgbClr val="1E3358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7" name="Text 15"/>
          <p:cNvSpPr txBox="1"/>
          <p:nvPr/>
        </p:nvSpPr>
        <p:spPr>
          <a:xfrm>
            <a:off x="4709160" y="317296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Storage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709160" y="3465576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A9B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Uploaded documents, retained only for the session and then purged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321040" y="3044952"/>
            <a:ext cx="3520440" cy="1097280"/>
          </a:xfrm>
          <a:prstGeom prst="roundRect">
            <a:avLst>
              <a:gd name="adj" fmla="val 7500"/>
            </a:avLst>
          </a:prstGeom>
          <a:solidFill>
            <a:srgbClr val="1E3358"/>
          </a:solidFill>
          <a:ln w="12700">
            <a:solidFill>
              <a:srgbClr val="1E3358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0" name="Text 18"/>
          <p:cNvSpPr txBox="1"/>
          <p:nvPr/>
        </p:nvSpPr>
        <p:spPr>
          <a:xfrm>
            <a:off x="8549640" y="317296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Logging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8549640" y="3465576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A9B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logs of every tool invocation for reconstruction and audit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40080" y="4617720"/>
            <a:ext cx="10911535" cy="1143000"/>
          </a:xfrm>
          <a:prstGeom prst="roundRect">
            <a:avLst>
              <a:gd name="adj" fmla="val 7200"/>
            </a:avLst>
          </a:prstGeom>
          <a:solidFill>
            <a:srgbClr val="1E3358"/>
          </a:solidFill>
          <a:ln w="12700">
            <a:solidFill>
              <a:srgbClr val="D98E0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3" name="Text 21"/>
          <p:cNvSpPr txBox="1"/>
          <p:nvPr/>
        </p:nvSpPr>
        <p:spPr>
          <a:xfrm>
            <a:off x="960120" y="4617720"/>
            <a:ext cx="1027145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by construction.  </a:t>
            </a:r>
            <a:r>
              <a:rPr lang="en-US" sz="1300" dirty="0">
                <a:solidFill>
                  <a:srgbClr val="A9B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Uploaded payslips are processed in-session and deleted, never retained for training. All demo documents in the public repository are synthetic. Malaysia's amended PDPA carries fines to RM1,000,000 for principle breaches — a financial advisor that leaks payslips is not a product.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9260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2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PROTOTYPE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5720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2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ships now, and what compounds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920240"/>
            <a:ext cx="256032" cy="256032"/>
          </a:xfrm>
          <a:prstGeom prst="ellipse">
            <a:avLst/>
          </a:prstGeom>
          <a:solidFill>
            <a:srgbClr val="1B8A5A"/>
          </a:solidFill>
          <a:ln w="12700">
            <a:solidFill>
              <a:srgbClr val="1B8A5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5" name="Shape 3"/>
          <p:cNvSpPr/>
          <p:nvPr/>
        </p:nvSpPr>
        <p:spPr>
          <a:xfrm>
            <a:off x="813816" y="2176272"/>
            <a:ext cx="0" cy="777240"/>
          </a:xfrm>
          <a:prstGeom prst="line">
            <a:avLst/>
          </a:prstGeom>
          <a:noFill/>
          <a:ln w="25400">
            <a:solidFill>
              <a:srgbClr val="D5DDE6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" name="Text 4"/>
          <p:cNvSpPr txBox="1"/>
          <p:nvPr/>
        </p:nvSpPr>
        <p:spPr>
          <a:xfrm>
            <a:off x="1188720" y="184708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3657600" y="1828800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300" dirty="0">
                <a:solidFill>
                  <a:srgbClr val="3A4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prototype: document intake, affordability engine, location cost, scenario simulation, the path-to-yes plan, multilingual verdict.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5800" y="2953512"/>
            <a:ext cx="256032" cy="256032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9" name="Shape 7"/>
          <p:cNvSpPr/>
          <p:nvPr/>
        </p:nvSpPr>
        <p:spPr>
          <a:xfrm>
            <a:off x="813816" y="3209544"/>
            <a:ext cx="0" cy="777240"/>
          </a:xfrm>
          <a:prstGeom prst="line">
            <a:avLst/>
          </a:prstGeom>
          <a:noFill/>
          <a:ln w="25400">
            <a:solidFill>
              <a:srgbClr val="D5DDE6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0" name="Text 8"/>
          <p:cNvSpPr txBox="1"/>
          <p:nvPr/>
        </p:nvSpPr>
        <p:spPr>
          <a:xfrm>
            <a:off x="1188720" y="28803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3 months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657600" y="2862072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300" dirty="0">
                <a:solidFill>
                  <a:srgbClr val="3A4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 tracking: monthly check-ins against the plan, and an automatic re-run the month the buyer becomes eligible.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85800" y="3986784"/>
            <a:ext cx="256032" cy="256032"/>
          </a:xfrm>
          <a:prstGeom prst="ellipse">
            <a:avLst/>
          </a:prstGeom>
          <a:solidFill>
            <a:srgbClr val="12213A"/>
          </a:solidFill>
          <a:ln w="12700">
            <a:solidFill>
              <a:srgbClr val="12213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3" name="Shape 11"/>
          <p:cNvSpPr/>
          <p:nvPr/>
        </p:nvSpPr>
        <p:spPr>
          <a:xfrm>
            <a:off x="813816" y="4242816"/>
            <a:ext cx="0" cy="777240"/>
          </a:xfrm>
          <a:prstGeom prst="line">
            <a:avLst/>
          </a:prstGeom>
          <a:noFill/>
          <a:ln w="25400">
            <a:solidFill>
              <a:srgbClr val="D5DDE6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4" name="Text 12"/>
          <p:cNvSpPr txBox="1"/>
          <p:nvPr/>
        </p:nvSpPr>
        <p:spPr>
          <a:xfrm>
            <a:off x="1188720" y="39136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6 months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657600" y="3895344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300" dirty="0">
                <a:solidFill>
                  <a:srgbClr val="3A4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Agency and developer view: the same computation surfaced as pipeline quality, protecting take-up rate.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5800" y="5020056"/>
            <a:ext cx="256032" cy="256032"/>
          </a:xfrm>
          <a:prstGeom prst="ellipse">
            <a:avLst/>
          </a:prstGeom>
          <a:solidFill>
            <a:srgbClr val="6B7C93"/>
          </a:solidFill>
          <a:ln w="12700">
            <a:solidFill>
              <a:srgbClr val="6B7C93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7" name="Text 15"/>
          <p:cNvSpPr txBox="1"/>
          <p:nvPr/>
        </p:nvSpPr>
        <p:spPr>
          <a:xfrm>
            <a:off x="1188720" y="494690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12 months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3657600" y="4928616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300" dirty="0">
                <a:solidFill>
                  <a:srgbClr val="3A4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data from real applications turns the indicative model into a predictive one. Automotive pack follows.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5623560"/>
            <a:ext cx="10911535" cy="822960"/>
          </a:xfrm>
          <a:prstGeom prst="roundRect">
            <a:avLst>
              <a:gd name="adj" fmla="val 10000"/>
            </a:avLst>
          </a:prstGeom>
          <a:solidFill>
            <a:srgbClr val="12213A"/>
          </a:solidFill>
          <a:ln w="12700">
            <a:solidFill>
              <a:srgbClr val="12213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0" name="Text 18"/>
          <p:cNvSpPr txBox="1"/>
          <p:nvPr/>
        </p:nvSpPr>
        <p:spPr>
          <a:xfrm>
            <a:off x="960120" y="5623560"/>
            <a:ext cx="102714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moat is not the model. It is the outcome data linking what we predicted to what the bank actually decided — and it starts accumulating from the first conversation.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221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2926080"/>
            <a:ext cx="6035040" cy="6035040"/>
          </a:xfrm>
          <a:prstGeom prst="ellipse">
            <a:avLst/>
          </a:prstGeom>
          <a:solidFill>
            <a:srgbClr val="1E3358"/>
          </a:solidFill>
          <a:ln w="12700">
            <a:solidFill>
              <a:srgbClr val="1E3358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" name="Text 1"/>
          <p:cNvSpPr txBox="1"/>
          <p:nvPr/>
        </p:nvSpPr>
        <p:spPr>
          <a:xfrm>
            <a:off x="4023360" y="1737360"/>
            <a:ext cx="7498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8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Buying a home is the largest financial</a:t>
            </a:r>
            <a:endParaRPr lang="en-US" sz="2800" dirty="0"/>
          </a:p>
          <a:p>
            <a:pPr marL="0" indent="0">
              <a:lnSpc>
                <a:spcPts val="38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most Malaysians ever make.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023360" y="3291840"/>
            <a:ext cx="7498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500" dirty="0">
                <a:solidFill>
                  <a:srgbClr val="A9B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make it with less analysis than they would apply to a car.</a:t>
            </a:r>
            <a:endParaRPr lang="en-US" sz="15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500" dirty="0" err="1">
                <a:solidFill>
                  <a:srgbClr val="A9B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LifeNest</a:t>
            </a:r>
            <a:r>
              <a:rPr lang="en-US" sz="1500" dirty="0">
                <a:solidFill>
                  <a:srgbClr val="A9B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AI gives them the number, the risk, and the honest answer —</a:t>
            </a:r>
            <a:endParaRPr lang="en-US" sz="15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500" dirty="0">
                <a:solidFill>
                  <a:srgbClr val="A9B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 booking fee, not eleven weeks after it.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023360" y="4846320"/>
            <a:ext cx="4206240" cy="384048"/>
          </a:xfrm>
          <a:prstGeom prst="roundRect">
            <a:avLst>
              <a:gd name="adj" fmla="val 4047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" name="Text 4"/>
          <p:cNvSpPr txBox="1"/>
          <p:nvPr/>
        </p:nvSpPr>
        <p:spPr>
          <a:xfrm>
            <a:off x="4023360" y="484632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LIFENEST AI  ·  BFSI TRACK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023360" y="557784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E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Cloud AI Builder Cup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2201</Words>
  <Application>Microsoft Office PowerPoint</Application>
  <PresentationFormat>Widescreen</PresentationFormat>
  <Paragraphs>223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HomeWise AI — Google Cloud AI Builder Cup 2026</dc:title>
  <dc:subject>PptxGenJS Presentation</dc:subject>
  <dc:creator>HomeWise AI</dc:creator>
  <cp:lastModifiedBy>Tan, Yi Jia</cp:lastModifiedBy>
  <cp:revision>3</cp:revision>
  <dcterms:created xsi:type="dcterms:W3CDTF">2026-09-04T03:10:55Z</dcterms:created>
  <dcterms:modified xsi:type="dcterms:W3CDTF">2026-09-04T05:52:04Z</dcterms:modified>
</cp:coreProperties>
</file>